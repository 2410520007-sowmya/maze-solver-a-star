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Maze Solver using A*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4794" y="2971800"/>
            <a:ext cx="335396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DCD8F0"/>
                </a:solidFill>
              </a:defRPr>
            </a:pPr>
            <a:r>
              <a:rPr dirty="0"/>
              <a:t>P</a:t>
            </a:r>
            <a:r>
              <a:rPr lang="en-IN" dirty="0"/>
              <a:t>resented by: E SOWMYA</a:t>
            </a:r>
          </a:p>
          <a:p>
            <a:pPr algn="ctr">
              <a:defRPr sz="2200">
                <a:solidFill>
                  <a:srgbClr val="DCD8F0"/>
                </a:solidFill>
              </a:defRPr>
            </a:pPr>
            <a:r>
              <a:rPr lang="en-IN" dirty="0"/>
              <a:t>Roll No: 07</a:t>
            </a:r>
          </a:p>
          <a:p>
            <a:pPr algn="ctr">
              <a:defRPr sz="2200">
                <a:solidFill>
                  <a:srgbClr val="DCD8F0"/>
                </a:solidFill>
              </a:defRPr>
            </a:pPr>
            <a:r>
              <a:rPr lang="en-IN" dirty="0"/>
              <a:t>Department: BCA</a:t>
            </a:r>
          </a:p>
          <a:p>
            <a:pPr algn="ctr">
              <a:defRPr sz="2200">
                <a:solidFill>
                  <a:srgbClr val="DCD8F0"/>
                </a:solidFill>
              </a:defRPr>
            </a:pPr>
            <a:r>
              <a:rPr lang="en-IN" dirty="0"/>
              <a:t>College: KLH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675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 shortest-path solution for a grid maze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1.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Represent a maze as a grid of nodes.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Identify the start position, goal position, open cells, and walls.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Use the A* Search Algorithm to find the shortest path.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Use Manhattan Distance as the heuristic.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Handle cases where the goal is unreachable.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Visualize the final shortest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2. Maze / Grid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4263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rPr dirty="0"/>
              <a:t>• Each cell in the grid is treated as a node.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rPr dirty="0"/>
              <a:t>• 0 represents an open cell that can be visited.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rPr dirty="0"/>
              <a:t>• 1 represents a wall or obstacle.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rPr dirty="0"/>
              <a:t>• Start = (0, 0) and Goal = (4, 5).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rPr dirty="0"/>
              <a:t>• Movement is allowed in four directions: up, down, left, and </a:t>
            </a:r>
            <a:r>
              <a:rPr dirty="0" err="1"/>
              <a:t>ri</a:t>
            </a:r>
            <a:r>
              <a:rPr lang="en-IN" dirty="0"/>
              <a:t>g</a:t>
            </a:r>
            <a:r>
              <a:rPr dirty="0"/>
              <a:t>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16290" y="1273720"/>
            <a:ext cx="502920" cy="502920"/>
          </a:xfrm>
          <a:prstGeom prst="rect">
            <a:avLst/>
          </a:prstGeom>
          <a:solidFill>
            <a:srgbClr val="64B478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56423" y="1275943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74614" y="1250291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66548" y="12472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69917" y="1247200"/>
            <a:ext cx="502920" cy="502920"/>
          </a:xfrm>
          <a:prstGeom prst="rect">
            <a:avLst/>
          </a:prstGeom>
          <a:solidFill>
            <a:srgbClr val="232323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794809" y="1261178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19364" y="1765431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25358" y="1731237"/>
            <a:ext cx="502920" cy="502920"/>
          </a:xfrm>
          <a:prstGeom prst="rect">
            <a:avLst/>
          </a:prstGeom>
          <a:solidFill>
            <a:srgbClr val="232323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60728" y="1719843"/>
            <a:ext cx="502920" cy="502920"/>
          </a:xfrm>
          <a:prstGeom prst="rect">
            <a:avLst/>
          </a:prstGeom>
          <a:solidFill>
            <a:srgbClr val="232323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32583" y="1747645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69468" y="1767383"/>
            <a:ext cx="502920" cy="502920"/>
          </a:xfrm>
          <a:prstGeom prst="rect">
            <a:avLst/>
          </a:prstGeom>
          <a:solidFill>
            <a:srgbClr val="232323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792041" y="1801175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07924" y="2246573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12029" y="2233392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9216134" y="2268351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383109" y="3242975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9080089" y="3260759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9713321" y="2251370"/>
            <a:ext cx="1051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8212224" y="2774813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66437" y="2770227"/>
            <a:ext cx="502920" cy="502920"/>
          </a:xfrm>
          <a:prstGeom prst="rect">
            <a:avLst/>
          </a:prstGeom>
          <a:solidFill>
            <a:srgbClr val="232323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00417" y="2771271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9674499" y="2774813"/>
            <a:ext cx="502920" cy="502920"/>
          </a:xfrm>
          <a:prstGeom prst="rect">
            <a:avLst/>
          </a:prstGeom>
          <a:solidFill>
            <a:srgbClr val="232323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74135" y="2774813"/>
            <a:ext cx="502920" cy="502920"/>
          </a:xfrm>
          <a:prstGeom prst="rect">
            <a:avLst/>
          </a:prstGeom>
          <a:solidFill>
            <a:srgbClr val="232323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10782131" y="2227093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8178139" y="3272621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686671" y="3272621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86307" y="32563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779735" y="2759229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728175" y="3256380"/>
            <a:ext cx="640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Rectangle 33"/>
          <p:cNvSpPr/>
          <p:nvPr/>
        </p:nvSpPr>
        <p:spPr>
          <a:xfrm>
            <a:off x="10869725" y="3254501"/>
            <a:ext cx="502920" cy="502920"/>
          </a:xfrm>
          <a:prstGeom prst="rect">
            <a:avLst/>
          </a:prstGeom>
          <a:solidFill>
            <a:srgbClr val="F5AA46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3. A* Search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32D"/>
                </a:solidFill>
              </a:defRPr>
            </a:pPr>
            <a:r>
              <a:t>• A* combines the cost already travelled with an estimate of the remaining distance.</a:t>
            </a:r>
          </a:p>
          <a:p>
            <a:pPr>
              <a:spcAft>
                <a:spcPts val="1400"/>
              </a:spcAft>
              <a:defRPr sz="1900">
                <a:solidFill>
                  <a:srgbClr val="23232D"/>
                </a:solidFill>
              </a:defRPr>
            </a:pPr>
            <a:r>
              <a:t>• For every node n, it calculates:</a:t>
            </a:r>
          </a:p>
          <a:p>
            <a:pPr>
              <a:spcAft>
                <a:spcPts val="1400"/>
              </a:spcAft>
              <a:defRPr sz="1900">
                <a:solidFill>
                  <a:srgbClr val="23232D"/>
                </a:solidFill>
              </a:defRPr>
            </a:pPr>
            <a:r>
              <a:t>• f(n) = g(n) + h(n)</a:t>
            </a:r>
          </a:p>
          <a:p>
            <a:pPr lvl="1">
              <a:spcAft>
                <a:spcPts val="1400"/>
              </a:spcAft>
              <a:defRPr sz="1600">
                <a:solidFill>
                  <a:srgbClr val="23232D"/>
                </a:solidFill>
              </a:defRPr>
            </a:pPr>
            <a:r>
              <a:t>   – g(n) = actual cost from the start node to n</a:t>
            </a:r>
          </a:p>
          <a:p>
            <a:pPr lvl="1">
              <a:spcAft>
                <a:spcPts val="1400"/>
              </a:spcAft>
              <a:defRPr sz="1600">
                <a:solidFill>
                  <a:srgbClr val="23232D"/>
                </a:solidFill>
              </a:defRPr>
            </a:pPr>
            <a:r>
              <a:t>   – h(n) = estimated cost from n to the goal</a:t>
            </a:r>
          </a:p>
          <a:p>
            <a:pPr lvl="1">
              <a:spcAft>
                <a:spcPts val="1400"/>
              </a:spcAft>
              <a:defRPr sz="1600">
                <a:solidFill>
                  <a:srgbClr val="23232D"/>
                </a:solidFill>
              </a:defRPr>
            </a:pPr>
            <a:r>
              <a:t>   – The node with the lowest f(n) is explored first.</a:t>
            </a:r>
          </a:p>
          <a:p>
            <a:pPr>
              <a:spcAft>
                <a:spcPts val="1400"/>
              </a:spcAft>
              <a:defRPr sz="1900">
                <a:solidFill>
                  <a:srgbClr val="23232D"/>
                </a:solidFill>
              </a:defRPr>
            </a:pPr>
            <a:r>
              <a:t>• When the goal is reached, the parent links are used to reconstruct the shortest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4. Heuristic – Manhattan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Manhattan Distance is suitable when movement is limited to four directions.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Formula: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h(n) = |x₁ − x₂| + |y₁ − y₂|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It estimates how many horizontal and vertical moves remain.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The heuristic helps A* search efficiently instead of exploring the entire maze.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8336" y="-16044"/>
            <a:ext cx="12320032" cy="11053011"/>
          </a:xfrm>
          <a:prstGeom prst="rect">
            <a:avLst/>
          </a:prstGeom>
          <a:solidFill>
            <a:srgbClr val="F4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5. Python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963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import </a:t>
            </a:r>
            <a:r>
              <a:rPr lang="en-US" sz="2000" dirty="0" err="1"/>
              <a:t>heapq</a:t>
            </a: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def heuristic(a, b):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return abs(a[0]-b[0]) + abs(a[1]-b[1])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def </a:t>
            </a:r>
            <a:r>
              <a:rPr lang="en-US" sz="2000" dirty="0" err="1"/>
              <a:t>a_star</a:t>
            </a:r>
            <a:r>
              <a:rPr lang="en-US" sz="2000" dirty="0"/>
              <a:t>(maze, start, goal):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</a:t>
            </a:r>
            <a:r>
              <a:rPr lang="en-US" sz="2000" dirty="0" err="1"/>
              <a:t>open_list</a:t>
            </a:r>
            <a:r>
              <a:rPr lang="en-US" sz="2000" dirty="0"/>
              <a:t> = [(0, start)]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</a:t>
            </a:r>
            <a:r>
              <a:rPr lang="en-US" sz="2000" dirty="0" err="1"/>
              <a:t>came_from</a:t>
            </a:r>
            <a:r>
              <a:rPr lang="en-US" sz="2000" dirty="0"/>
              <a:t> = {}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</a:t>
            </a:r>
            <a:r>
              <a:rPr lang="en-US" sz="2000" dirty="0" err="1"/>
              <a:t>g_score</a:t>
            </a:r>
            <a:r>
              <a:rPr lang="en-US" sz="2000" dirty="0"/>
              <a:t> = {start: 0}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while </a:t>
            </a:r>
            <a:r>
              <a:rPr lang="en-US" sz="2000" dirty="0" err="1"/>
              <a:t>open_list</a:t>
            </a:r>
            <a:r>
              <a:rPr lang="en-US" sz="2000" dirty="0"/>
              <a:t>: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_, current = </a:t>
            </a:r>
            <a:r>
              <a:rPr lang="en-US" sz="2000" dirty="0" err="1"/>
              <a:t>heapq.heappop</a:t>
            </a:r>
            <a:r>
              <a:rPr lang="en-US" sz="2000" dirty="0"/>
              <a:t>(</a:t>
            </a:r>
            <a:r>
              <a:rPr lang="en-US" sz="2000" dirty="0" err="1"/>
              <a:t>open_list</a:t>
            </a:r>
            <a:r>
              <a:rPr lang="en-US" sz="2000" dirty="0"/>
              <a:t>)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if current == goal: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path = []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while current in </a:t>
            </a:r>
            <a:r>
              <a:rPr lang="en-US" sz="2000" dirty="0" err="1"/>
              <a:t>came_from</a:t>
            </a:r>
            <a:r>
              <a:rPr lang="en-US" sz="2000" dirty="0"/>
              <a:t>: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    </a:t>
            </a:r>
            <a:r>
              <a:rPr lang="en-US" sz="2000" dirty="0" err="1"/>
              <a:t>path.append</a:t>
            </a:r>
            <a:r>
              <a:rPr lang="en-US" sz="2000" dirty="0"/>
              <a:t>(current)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    current = </a:t>
            </a:r>
            <a:r>
              <a:rPr lang="en-US" sz="2000" dirty="0" err="1"/>
              <a:t>came_from</a:t>
            </a:r>
            <a:r>
              <a:rPr lang="en-US" sz="2000" dirty="0"/>
              <a:t>[current]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</a:t>
            </a:r>
            <a:r>
              <a:rPr lang="en-US" sz="2000" dirty="0" err="1"/>
              <a:t>path.append</a:t>
            </a:r>
            <a:r>
              <a:rPr lang="en-US" sz="2000" dirty="0"/>
              <a:t>(start)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return path[::-1]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for neighbor in </a:t>
            </a:r>
            <a:r>
              <a:rPr lang="en-US" sz="2000" dirty="0" err="1"/>
              <a:t>get_neighbors</a:t>
            </a:r>
            <a:r>
              <a:rPr lang="en-US" sz="2000" dirty="0"/>
              <a:t>(current, maze):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</a:t>
            </a:r>
            <a:r>
              <a:rPr lang="en-US" sz="2000" dirty="0" err="1"/>
              <a:t>new_cost</a:t>
            </a:r>
            <a:r>
              <a:rPr lang="en-US" sz="2000" dirty="0"/>
              <a:t> = </a:t>
            </a:r>
            <a:r>
              <a:rPr lang="en-US" sz="2000" dirty="0" err="1"/>
              <a:t>g_score</a:t>
            </a:r>
            <a:r>
              <a:rPr lang="en-US" sz="2000" dirty="0"/>
              <a:t>[current] + 1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if neighbor not in </a:t>
            </a:r>
            <a:r>
              <a:rPr lang="en-US" sz="2000" dirty="0" err="1"/>
              <a:t>g_score</a:t>
            </a:r>
            <a:r>
              <a:rPr lang="en-US" sz="2000" dirty="0"/>
              <a:t> or </a:t>
            </a:r>
            <a:r>
              <a:rPr lang="en-US" sz="2000" dirty="0" err="1"/>
              <a:t>new_cost</a:t>
            </a:r>
            <a:r>
              <a:rPr lang="en-US" sz="2000" dirty="0"/>
              <a:t> &lt; </a:t>
            </a:r>
            <a:r>
              <a:rPr lang="en-US" sz="2000" dirty="0" err="1"/>
              <a:t>g_score</a:t>
            </a:r>
            <a:r>
              <a:rPr lang="en-US" sz="2000" dirty="0"/>
              <a:t>[neighbor]: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    </a:t>
            </a:r>
            <a:r>
              <a:rPr lang="en-US" sz="2000" dirty="0" err="1"/>
              <a:t>g_score</a:t>
            </a:r>
            <a:r>
              <a:rPr lang="en-US" sz="2000" dirty="0"/>
              <a:t>[neighbor] = </a:t>
            </a:r>
            <a:r>
              <a:rPr lang="en-US" sz="2000" dirty="0" err="1"/>
              <a:t>new_cost</a:t>
            </a: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    priority = </a:t>
            </a:r>
            <a:r>
              <a:rPr lang="en-US" sz="2000" dirty="0" err="1"/>
              <a:t>new_cost</a:t>
            </a:r>
            <a:r>
              <a:rPr lang="en-US" sz="2000" dirty="0"/>
              <a:t> + heuristic(neighbor, goal)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    </a:t>
            </a:r>
            <a:r>
              <a:rPr lang="en-US" sz="2000" dirty="0" err="1"/>
              <a:t>came_from</a:t>
            </a:r>
            <a:r>
              <a:rPr lang="en-US" sz="2000" dirty="0"/>
              <a:t>[neighbor] = current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            </a:t>
            </a:r>
            <a:r>
              <a:rPr lang="en-US" sz="2000" dirty="0" err="1"/>
              <a:t>heapq.heappush</a:t>
            </a:r>
            <a:r>
              <a:rPr lang="en-US" sz="2000" dirty="0"/>
              <a:t>(</a:t>
            </a:r>
            <a:r>
              <a:rPr lang="en-US" sz="2000" dirty="0" err="1"/>
              <a:t>open_list</a:t>
            </a:r>
            <a:r>
              <a:rPr lang="en-US" sz="2000" dirty="0"/>
              <a:t>, (priority, neighbor))</a:t>
            </a:r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endParaRPr lang="en-US" sz="2000" dirty="0"/>
          </a:p>
          <a:p>
            <a:pPr>
              <a:defRPr sz="1300">
                <a:solidFill>
                  <a:srgbClr val="23232D"/>
                </a:solidFill>
                <a:latin typeface="Consolas"/>
              </a:defRPr>
            </a:pPr>
            <a:r>
              <a:rPr lang="en-US" sz="2000" dirty="0"/>
              <a:t>    return None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6. Output / Visualization</a:t>
            </a:r>
          </a:p>
        </p:txBody>
      </p:sp>
      <p:pic>
        <p:nvPicPr>
          <p:cNvPr id="4" name="Picture 3" descr="dc8913bf-7190-4cf9-a6e3-03063977e6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325880"/>
            <a:ext cx="9555480" cy="8532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7.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The A* algorithm successfully finds a path from the start to the goal.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Walls and obstacles are avoided during the search.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The returned path is reconstructed from the goal back to the start.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If no valid route exists, the program reports that no path exists.</a:t>
            </a:r>
          </a:p>
          <a:p>
            <a:pPr>
              <a:spcAft>
                <a:spcPts val="1400"/>
              </a:spcAft>
              <a:defRPr sz="2100">
                <a:solidFill>
                  <a:srgbClr val="23232D"/>
                </a:solidFill>
              </a:defRPr>
            </a:pPr>
            <a:r>
              <a:t>• The final path is displayed graphically for easy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8.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32D"/>
                </a:solidFill>
              </a:defRPr>
            </a:pPr>
            <a:r>
              <a:t>• The Maze Solver successfully finds the shortest path using the A* Search Algorithm.</a:t>
            </a:r>
          </a:p>
          <a:p>
            <a:pPr>
              <a:spcAft>
                <a:spcPts val="1400"/>
              </a:spcAft>
              <a:defRPr sz="2200">
                <a:solidFill>
                  <a:srgbClr val="23232D"/>
                </a:solidFill>
              </a:defRPr>
            </a:pPr>
            <a:r>
              <a:t>• Manhattan Distance provides an effective heuristic for a four-directional grid.</a:t>
            </a:r>
          </a:p>
          <a:p>
            <a:pPr>
              <a:spcAft>
                <a:spcPts val="1400"/>
              </a:spcAft>
              <a:defRPr sz="2200">
                <a:solidFill>
                  <a:srgbClr val="23232D"/>
                </a:solidFill>
              </a:defRPr>
            </a:pPr>
            <a:r>
              <a:t>• The project demonstrates how A* can be used for pathfinding and navigation problems.</a:t>
            </a:r>
          </a:p>
          <a:p>
            <a:pPr>
              <a:spcAft>
                <a:spcPts val="1400"/>
              </a:spcAft>
              <a:defRPr sz="2200">
                <a:solidFill>
                  <a:srgbClr val="23232D"/>
                </a:solidFill>
              </a:defRPr>
            </a:pPr>
            <a:r>
              <a:t>• The final solution is both computationally useful and visually easy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8F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724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vasanth goud</cp:lastModifiedBy>
  <cp:revision>3</cp:revision>
  <dcterms:created xsi:type="dcterms:W3CDTF">2013-01-27T09:14:16Z</dcterms:created>
  <dcterms:modified xsi:type="dcterms:W3CDTF">2026-09-09T16:41:22Z</dcterms:modified>
  <cp:category/>
</cp:coreProperties>
</file>